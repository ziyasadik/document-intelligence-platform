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DC060-7317-447F-A573-40791485DE5A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AE-8BC8-48C1-8F7C-F3E17E207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8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AE-8BC8-48C1-8F7C-F3E17E2079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0481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ument-intelligence-api-lffm.onrender.com" TargetMode="External"/><Relationship Id="rId3" Type="http://schemas.openxmlformats.org/officeDocument/2006/relationships/hyperlink" Target="https://document-intelligence-api-lffm.onrender.com/docs" TargetMode="External"/><Relationship Id="rId4" Type="http://schemas.openxmlformats.org/officeDocument/2006/relationships/hyperlink" Target="https://document-intelligence-api-lffm.onrender.com/api/v1/health" TargetMode="External"/><Relationship Id="rId5" Type="http://schemas.openxmlformats.org/officeDocument/2006/relationships/hyperlink" Target="https://github.com/ZiyaSadik/document-intelligence-plat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92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E701F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8778240" cy="1174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4DBD24"/>
                </a:solidFill>
                <a:latin typeface="Aptos"/>
              </a:rPr>
              <a:t>AI ENGINEER INTERNSHIP  ·  TECHNICAL CASE STUDY</a:t>
            </a:r>
          </a:p>
          <a:p>
            <a:pPr algn="l">
              <a:spcAft>
                <a:spcPts val="400"/>
              </a:spcAft>
            </a:pPr>
            <a:r>
              <a:rPr sz="3600" b="1" i="0" dirty="0">
                <a:solidFill>
                  <a:srgbClr val="171817"/>
                </a:solidFill>
                <a:latin typeface="Georgia"/>
              </a:rPr>
              <a:t>Document Intelligence Platform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5B635C"/>
                </a:solidFill>
                <a:latin typeface="Aptos"/>
              </a:rPr>
              <a:t>Intelligent extraction, financial validation and API delivery for invoices and 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2011680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171817"/>
                </a:solidFill>
                <a:latin typeface="Georgia"/>
              </a:rPr>
              <a:t>4</a:t>
            </a:r>
            <a:endParaRPr sz="1600" b="1" i="0" dirty="0">
              <a:solidFill>
                <a:srgbClr val="171817"/>
              </a:solidFill>
              <a:latin typeface="Georgia"/>
            </a:endParaRP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5B635C"/>
                </a:solidFill>
                <a:latin typeface="Aptos"/>
              </a:rPr>
              <a:t>document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4892040"/>
            <a:ext cx="2011680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171817"/>
                </a:solidFill>
                <a:latin typeface="Georgia"/>
              </a:rPr>
              <a:t>140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5B635C"/>
                </a:solidFill>
                <a:latin typeface="Aptos"/>
              </a:rPr>
              <a:t>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9350" y="4892040"/>
            <a:ext cx="2011680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171817"/>
                </a:solidFill>
                <a:latin typeface="Georgia"/>
              </a:rPr>
              <a:t>37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5B635C"/>
                </a:solidFill>
                <a:latin typeface="Aptos"/>
              </a:rPr>
              <a:t>reconciliation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3591" y="4892040"/>
            <a:ext cx="2011680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171817"/>
                </a:solidFill>
                <a:latin typeface="Georgia"/>
              </a:rPr>
              <a:t>1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5B635C"/>
                </a:solidFill>
                <a:latin typeface="Aptos"/>
              </a:rPr>
              <a:t>deployed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171817"/>
                </a:solidFill>
                <a:latin typeface="Georgia"/>
              </a:rPr>
              <a:t>The brief, and 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35C"/>
                </a:solidFill>
                <a:latin typeface="Aptos"/>
              </a:rPr>
              <a:t>One deployed service that turns a document into structured, reconciled, retrievable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9496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3062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 dirty="0">
                <a:solidFill>
                  <a:srgbClr val="171817"/>
                </a:solidFill>
                <a:latin typeface="Aptos"/>
              </a:rPr>
              <a:t>WHAT WAS ASKED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Accept PDF / JPG / PNG, up to 3 pages, and reject anything else gracefully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Extract every visible field and table value</a:t>
            </a:r>
            <a:r>
              <a:rPr lang="en-US" sz="1600" dirty="0">
                <a:solidFill>
                  <a:srgbClr val="171817"/>
                </a:solidFill>
                <a:latin typeface="Aptos"/>
              </a:rPr>
              <a:t>, 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not a short fixed list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 with evidence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Validate the financial relationships for each document type, per comparative period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Store results and serve them through REST APIs and a dashboard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Deploy it: a localhost</a:t>
            </a:r>
            <a:r>
              <a:rPr lang="en-US" sz="1600" dirty="0">
                <a:solidFill>
                  <a:srgbClr val="171817"/>
                </a:solidFill>
                <a:latin typeface="Aptos"/>
              </a:rPr>
              <a:t>-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only submission is incomplete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120640" cy="429768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480560" cy="3308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 dirty="0">
                <a:solidFill>
                  <a:srgbClr val="171817"/>
                </a:solidFill>
                <a:latin typeface="Aptos"/>
              </a:rPr>
              <a:t>WHAT WAS DELIVERED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</a:t>
            </a:r>
            <a:r>
              <a:rPr sz="1600" b="0" i="0" dirty="0" err="1">
                <a:solidFill>
                  <a:srgbClr val="171817"/>
                </a:solidFill>
                <a:latin typeface="Aptos"/>
              </a:rPr>
              <a:t>FastAPI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 service with four documented endpoints and Swagger UI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Text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layer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or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1817"/>
                </a:solidFill>
                <a:latin typeface="Aptos"/>
              </a:rPr>
              <a:t>rasterise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 reader, then Claude vision with a schema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constrained response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Deterministic reconciliation engine </a:t>
            </a:r>
            <a:r>
              <a:rPr lang="en-US" sz="1600" b="0" i="0" dirty="0">
                <a:solidFill>
                  <a:srgbClr val="171817"/>
                </a:solidFill>
                <a:latin typeface="Aptos"/>
              </a:rPr>
              <a:t>-</a:t>
            </a:r>
            <a:r>
              <a:rPr sz="1600" b="0" i="0" dirty="0">
                <a:solidFill>
                  <a:srgbClr val="171817"/>
                </a:solidFill>
                <a:latin typeface="Aptos"/>
              </a:rPr>
              <a:t> no model in the arithmetic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PostgreSQL-backed dashboard with raw-JSON view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•  Docker image and Render blueprint; no system packages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 dirty="0">
                <a:solidFill>
                  <a:srgbClr val="171817"/>
                </a:solidFill>
                <a:latin typeface="Aptos"/>
              </a:rPr>
              <a:t>Frontend and API are one process: one URL, one origin, no CORS.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171817"/>
                </a:solidFill>
                <a:latin typeface="Georgia"/>
              </a:rPr>
              <a:t>The finding that shaped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Investigating the corpus before writing code changed the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657600" cy="2834640"/>
          </a:xfrm>
          <a:prstGeom prst="roundRect">
            <a:avLst>
              <a:gd name="adj" fmla="val 3500"/>
            </a:avLst>
          </a:prstGeom>
          <a:solidFill>
            <a:srgbClr val="17181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3017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dirty="0">
                <a:solidFill>
                  <a:srgbClr val="171817"/>
                </a:solidFill>
                <a:latin typeface="Aptos"/>
              </a:rPr>
              <a:t>29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737360"/>
            <a:ext cx="68580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6217920" cy="2221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 i="0" dirty="0">
                <a:solidFill>
                  <a:srgbClr val="171817"/>
                </a:solidFill>
                <a:latin typeface="Aptos"/>
              </a:rPr>
              <a:t>Their text is painted as vector path outlines.</a:t>
            </a:r>
          </a:p>
          <a:p>
            <a:pPr algn="l">
              <a:spcAft>
                <a:spcPts val="12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Empty resource dictionary, no /Font, no /</a:t>
            </a:r>
            <a:r>
              <a:rPr b="0" i="0" dirty="0" err="1">
                <a:solidFill>
                  <a:srgbClr val="171817"/>
                </a:solidFill>
                <a:latin typeface="Aptos"/>
              </a:rPr>
              <a:t>XObject</a:t>
            </a:r>
            <a:r>
              <a:rPr b="0" i="0" dirty="0">
                <a:solidFill>
                  <a:srgbClr val="171817"/>
                </a:solidFill>
                <a:latin typeface="Aptos"/>
              </a:rPr>
              <a:t> — roughly a megabyte of path</a:t>
            </a:r>
            <a:r>
              <a:rPr lang="en-US" b="0" i="0" dirty="0">
                <a:solidFill>
                  <a:srgbClr val="171817"/>
                </a:solidFill>
                <a:latin typeface="Aptos"/>
              </a:rPr>
              <a:t> </a:t>
            </a:r>
            <a:r>
              <a:rPr b="0" i="0" dirty="0">
                <a:solidFill>
                  <a:srgbClr val="171817"/>
                </a:solidFill>
                <a:latin typeface="Aptos"/>
              </a:rPr>
              <a:t>fill operators per page. </a:t>
            </a:r>
            <a:r>
              <a:rPr b="0" i="0" dirty="0" err="1">
                <a:solidFill>
                  <a:srgbClr val="171817"/>
                </a:solidFill>
                <a:latin typeface="Aptos"/>
              </a:rPr>
              <a:t>pdfplumber</a:t>
            </a:r>
            <a:r>
              <a:rPr b="0" i="0" dirty="0">
                <a:solidFill>
                  <a:srgbClr val="171817"/>
                </a:solidFill>
                <a:latin typeface="Aptos"/>
              </a:rPr>
              <a:t> and </a:t>
            </a:r>
            <a:r>
              <a:rPr b="0" i="0" dirty="0" err="1">
                <a:solidFill>
                  <a:srgbClr val="171817"/>
                </a:solidFill>
                <a:latin typeface="Aptos"/>
              </a:rPr>
              <a:t>pypdf</a:t>
            </a:r>
            <a:r>
              <a:rPr b="0" i="0" dirty="0">
                <a:solidFill>
                  <a:srgbClr val="171817"/>
                </a:solidFill>
                <a:latin typeface="Aptos"/>
              </a:rPr>
              <a:t> both return zero characters, on pages that look perfectly normal on screen.</a:t>
            </a:r>
          </a:p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171817"/>
                </a:solidFill>
                <a:latin typeface="Aptos"/>
              </a:rPr>
              <a:t>A text</a:t>
            </a:r>
            <a:r>
              <a:rPr lang="en-US" b="1" i="0" dirty="0">
                <a:solidFill>
                  <a:srgbClr val="171817"/>
                </a:solidFill>
                <a:latin typeface="Aptos"/>
              </a:rPr>
              <a:t> </a:t>
            </a:r>
            <a:r>
              <a:rPr b="1" i="0" dirty="0">
                <a:solidFill>
                  <a:srgbClr val="171817"/>
                </a:solidFill>
                <a:latin typeface="Aptos"/>
              </a:rPr>
              <a:t>layer</a:t>
            </a:r>
            <a:r>
              <a:rPr lang="en-US" b="1" i="0" dirty="0">
                <a:solidFill>
                  <a:srgbClr val="171817"/>
                </a:solidFill>
                <a:latin typeface="Aptos"/>
              </a:rPr>
              <a:t> </a:t>
            </a:r>
            <a:r>
              <a:rPr b="1" i="0" dirty="0">
                <a:solidFill>
                  <a:srgbClr val="171817"/>
                </a:solidFill>
                <a:latin typeface="Aptos"/>
              </a:rPr>
              <a:t>only solution extracts nothing from 29 of the 30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5488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2926080" cy="1049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 dirty="0" err="1">
                <a:solidFill>
                  <a:srgbClr val="171817"/>
                </a:solidFill>
                <a:latin typeface="Aptos"/>
              </a:rPr>
              <a:t>Rasterisation</a:t>
            </a:r>
            <a:r>
              <a:rPr sz="1600" b="1" i="0" dirty="0">
                <a:solidFill>
                  <a:srgbClr val="171817"/>
                </a:solidFill>
                <a:latin typeface="Aptos"/>
              </a:rPr>
              <a:t> is the primary path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not a fallback bolted on for scanned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75488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4983480"/>
            <a:ext cx="2926080" cy="1049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pypdfium2, not </a:t>
            </a:r>
            <a:r>
              <a:rPr sz="1600" b="1" i="0" dirty="0" err="1">
                <a:solidFill>
                  <a:srgbClr val="171817"/>
                </a:solidFill>
                <a:latin typeface="Aptos"/>
              </a:rPr>
              <a:t>poppler</a:t>
            </a:r>
            <a:endParaRPr sz="1600" b="1" i="0" dirty="0">
              <a:solidFill>
                <a:srgbClr val="171817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a self-contained wheel, so the container needs no system packages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475488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6" y="4983480"/>
            <a:ext cx="2926080" cy="92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Vision model over classical OCR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row-to-column association in dense comparative tables is exactly where Tesseract-class OCR fails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B2002B7F-49FD-480E-61CD-E50A8034C8E3}"/>
              </a:ext>
            </a:extLst>
          </p:cNvPr>
          <p:cNvSpPr txBox="1"/>
          <p:nvPr/>
        </p:nvSpPr>
        <p:spPr>
          <a:xfrm>
            <a:off x="1036320" y="2380202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800"/>
              </a:spcAft>
            </a:pPr>
            <a:r>
              <a:rPr sz="5200" b="1" i="0" dirty="0">
                <a:solidFill>
                  <a:srgbClr val="FFFFFF"/>
                </a:solidFill>
                <a:latin typeface="Cambria"/>
              </a:rPr>
              <a:t>29 / 30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A9B4C6"/>
                </a:solidFill>
                <a:latin typeface="Calibri"/>
              </a:rPr>
              <a:t>statement PDFs have no text layer and no embedded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171817"/>
                </a:solidFill>
                <a:latin typeface="Georgia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Clear separation of concerns: each stage is one service with one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91640"/>
            <a:ext cx="4297680" cy="14173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892808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One process, two surfaces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The dashboard and the API are served by the same application, so there is one deploy, one URL and no CORS.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291840"/>
            <a:ext cx="4297680" cy="14173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3493008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Each stage is swappable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The reader, the extractor and the reconciler share no state; each is constructor-injected and separately testable.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892040"/>
            <a:ext cx="4297680" cy="14173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5093207"/>
            <a:ext cx="3749039" cy="93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One external call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Only the extraction stage leaves the process. Everything else — validation, arithmetic, scoring — is local and deterministic.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5F7A7D-F98B-A80E-F0DE-AC223B5B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15" y="1627071"/>
            <a:ext cx="6206206" cy="4877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171817"/>
                </a:solidFill>
                <a:latin typeface="Georgia"/>
              </a:rPr>
              <a:t>The pipeline, in five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 err="1">
                <a:solidFill>
                  <a:srgbClr val="171817"/>
                </a:solidFill>
                <a:latin typeface="Aptos"/>
              </a:rPr>
              <a:t>DocumentService</a:t>
            </a:r>
            <a:r>
              <a:rPr sz="1200" b="0" i="0" dirty="0">
                <a:solidFill>
                  <a:srgbClr val="171817"/>
                </a:solidFill>
                <a:latin typeface="Aptos"/>
              </a:rPr>
              <a:t> owns the ordering and the failure handling; nothing 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121408" cy="32461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2029968"/>
            <a:ext cx="384048" cy="384048"/>
          </a:xfrm>
          <a:prstGeom prst="ellipse">
            <a:avLst/>
          </a:prstGeom>
          <a:solidFill>
            <a:srgbClr val="4DBD24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1609343" cy="233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Validate</a:t>
            </a:r>
          </a:p>
          <a:p>
            <a:pPr algn="l">
              <a:spcAft>
                <a:spcPts val="1400"/>
              </a:spcAft>
            </a:pPr>
            <a:r>
              <a:rPr sz="1200" b="0" i="0" dirty="0" err="1">
                <a:solidFill>
                  <a:srgbClr val="171817"/>
                </a:solidFill>
                <a:latin typeface="Aptos"/>
              </a:rPr>
              <a:t>document_validation_service</a:t>
            </a:r>
            <a:endParaRPr sz="1200" b="0" i="0" dirty="0">
              <a:solidFill>
                <a:srgbClr val="171817"/>
              </a:solidFill>
              <a:latin typeface="Aptos"/>
            </a:endParaRP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Type from magic bytes, never the extension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Empty, oversize, corrupted, &gt; 3 pages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Typed error → 400 / 413 / 422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783080"/>
            <a:ext cx="2121408" cy="32461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27832" y="2029968"/>
            <a:ext cx="384048" cy="384048"/>
          </a:xfrm>
          <a:prstGeom prst="ellipse">
            <a:avLst/>
          </a:prstGeom>
          <a:solidFill>
            <a:srgbClr val="4DBD24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606040"/>
            <a:ext cx="1609343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Read</a:t>
            </a:r>
          </a:p>
          <a:p>
            <a:pPr algn="l">
              <a:spcAft>
                <a:spcPts val="1400"/>
              </a:spcAft>
            </a:pPr>
            <a:r>
              <a:rPr sz="1200" b="0" i="0" dirty="0" err="1">
                <a:solidFill>
                  <a:srgbClr val="171817"/>
                </a:solidFill>
                <a:latin typeface="Aptos"/>
              </a:rPr>
              <a:t>ocr_service</a:t>
            </a:r>
            <a:endParaRPr sz="1200" b="0" i="0" dirty="0">
              <a:solidFill>
                <a:srgbClr val="171817"/>
              </a:solidFill>
              <a:latin typeface="Aptos"/>
            </a:endParaRP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Native text layer when the page has one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Otherwise </a:t>
            </a:r>
            <a:r>
              <a:rPr sz="1200" b="0" i="0" dirty="0" err="1">
                <a:solidFill>
                  <a:srgbClr val="171817"/>
                </a:solidFill>
                <a:latin typeface="Aptos"/>
              </a:rPr>
              <a:t>rasterise</a:t>
            </a:r>
            <a:r>
              <a:rPr sz="1200" b="0" i="0" dirty="0">
                <a:solidFill>
                  <a:srgbClr val="171817"/>
                </a:solidFill>
                <a:latin typeface="Aptos"/>
              </a:rPr>
              <a:t> at 200 DPI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EXIF rotation, downscale, JPEG encode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783080"/>
            <a:ext cx="2121408" cy="32461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13832" y="2029968"/>
            <a:ext cx="384048" cy="384048"/>
          </a:xfrm>
          <a:prstGeom prst="ellipse">
            <a:avLst/>
          </a:prstGeom>
          <a:solidFill>
            <a:srgbClr val="4DBD24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2" y="2606040"/>
            <a:ext cx="1609343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Extract</a:t>
            </a:r>
          </a:p>
          <a:p>
            <a:pPr algn="l">
              <a:spcAft>
                <a:spcPts val="1400"/>
              </a:spcAft>
            </a:pPr>
            <a:r>
              <a:rPr sz="1200" b="0" i="0" dirty="0" err="1">
                <a:solidFill>
                  <a:srgbClr val="171817"/>
                </a:solidFill>
                <a:latin typeface="Aptos"/>
              </a:rPr>
              <a:t>extraction_service</a:t>
            </a:r>
            <a:endParaRPr sz="1200" b="0" i="0" dirty="0">
              <a:solidFill>
                <a:srgbClr val="171817"/>
              </a:solidFill>
              <a:latin typeface="Aptos"/>
            </a:endParaRP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One streamed Claude call, all pages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JSON schema from </a:t>
            </a:r>
            <a:r>
              <a:rPr sz="1200" b="0" i="0" dirty="0" err="1">
                <a:solidFill>
                  <a:srgbClr val="171817"/>
                </a:solidFill>
                <a:latin typeface="Aptos"/>
              </a:rPr>
              <a:t>Pydantic</a:t>
            </a:r>
            <a:r>
              <a:rPr sz="1200" b="0" i="0" dirty="0">
                <a:solidFill>
                  <a:srgbClr val="171817"/>
                </a:solidFill>
                <a:latin typeface="Aptos"/>
              </a:rPr>
              <a:t> models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Retry feeds the validator error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783080"/>
            <a:ext cx="2121408" cy="32461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99831" y="2029968"/>
            <a:ext cx="384048" cy="384048"/>
          </a:xfrm>
          <a:prstGeom prst="ellipse">
            <a:avLst/>
          </a:prstGeom>
          <a:solidFill>
            <a:srgbClr val="2E701F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606040"/>
            <a:ext cx="1609343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Reconcile</a:t>
            </a:r>
          </a:p>
          <a:p>
            <a:pPr algn="l">
              <a:spcAft>
                <a:spcPts val="1400"/>
              </a:spcAft>
            </a:pPr>
            <a:r>
              <a:rPr sz="1200" b="0" i="0" dirty="0" err="1">
                <a:solidFill>
                  <a:srgbClr val="171817"/>
                </a:solidFill>
                <a:latin typeface="Aptos"/>
              </a:rPr>
              <a:t>financial_validation_service</a:t>
            </a:r>
            <a:endParaRPr sz="1200" b="0" i="0" dirty="0">
              <a:solidFill>
                <a:srgbClr val="171817"/>
              </a:solidFill>
              <a:latin typeface="Aptos"/>
            </a:endParaRP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Pure Python — no model involved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Per document type, per period</a:t>
            </a:r>
          </a:p>
          <a:p>
            <a:pPr algn="l">
              <a:spcAft>
                <a:spcPts val="90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•  Missing operand → NOT_APPLICABLE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171817"/>
                </a:solidFill>
                <a:latin typeface="Aptos"/>
              </a:rPr>
              <a:t>A rejected upload is still stored with processing_status FAILED, so the dashboard shows what was attempted rather than dropping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F6BDE3EE-967E-45A9-0207-5917B2F22230}"/>
              </a:ext>
            </a:extLst>
          </p:cNvPr>
          <p:cNvSpPr/>
          <p:nvPr/>
        </p:nvSpPr>
        <p:spPr>
          <a:xfrm>
            <a:off x="9829800" y="1783080"/>
            <a:ext cx="2121408" cy="324612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b="1" dirty="0">
              <a:solidFill>
                <a:schemeClr val="tx1"/>
              </a:solidFill>
            </a:endParaRPr>
          </a:p>
          <a:p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    Score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    </a:t>
            </a:r>
            <a:r>
              <a:rPr lang="en-IN" sz="1200" dirty="0" err="1">
                <a:solidFill>
                  <a:schemeClr val="tx1"/>
                </a:solidFill>
              </a:rPr>
              <a:t>confidence_service</a:t>
            </a:r>
            <a:endParaRPr lang="en-IN" sz="1200" dirty="0">
              <a:solidFill>
                <a:schemeClr val="tx1"/>
              </a:solidFill>
            </a:endParaRP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•  Computed after the fact, not asked for</a:t>
            </a:r>
          </a:p>
          <a:p>
            <a:r>
              <a:rPr lang="en-IN" sz="1200" dirty="0">
                <a:solidFill>
                  <a:schemeClr val="tx1"/>
                </a:solidFill>
              </a:rPr>
              <a:t>•  Evidence corroboration is the key signal</a:t>
            </a:r>
          </a:p>
          <a:p>
            <a:r>
              <a:rPr lang="en-IN" sz="1200" dirty="0">
                <a:solidFill>
                  <a:schemeClr val="tx1"/>
                </a:solidFill>
              </a:rPr>
              <a:t>•  Absent value scores null, not zero</a:t>
            </a:r>
          </a:p>
          <a:p>
            <a:pPr algn="ctr"/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140C77-BFCA-20B5-20D0-9524C17C0F70}"/>
              </a:ext>
            </a:extLst>
          </p:cNvPr>
          <p:cNvSpPr/>
          <p:nvPr/>
        </p:nvSpPr>
        <p:spPr>
          <a:xfrm>
            <a:off x="10068464" y="2029968"/>
            <a:ext cx="384048" cy="384048"/>
          </a:xfrm>
          <a:prstGeom prst="ellipse">
            <a:avLst/>
          </a:prstGeom>
          <a:solidFill>
            <a:srgbClr val="2E701F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Extraction: the model transcribes, the code interprets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The single most important design decision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257800" cy="30632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17720" cy="2451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b="1" i="0" dirty="0">
                <a:solidFill>
                  <a:srgbClr val="171817"/>
                </a:solidFill>
                <a:latin typeface="Aptos"/>
              </a:rPr>
              <a:t>THE MODEL RETURNS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Every figure as a string, exactly as printed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"(1,234.56)"   "1,23,456.78"   "–"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The caption, section and page for each row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The line of text each value came from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null for anything it cannot read — never a guess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57800" cy="30632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17720" cy="2451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b="1" i="0" dirty="0">
                <a:solidFill>
                  <a:srgbClr val="171817"/>
                </a:solidFill>
                <a:latin typeface="Aptos"/>
              </a:rPr>
              <a:t>THE APPLICATION DECIDES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Parentheses mean negative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Indian and Western digit grouping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Currency symbols, Unicode and trailing minus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Dash / Nil / N-A mean no value, not zero</a:t>
            </a:r>
          </a:p>
          <a:p>
            <a:pPr algn="l">
              <a:spcAft>
                <a:spcPts val="700"/>
              </a:spcAft>
            </a:pPr>
            <a:r>
              <a:rPr b="0" i="0" dirty="0">
                <a:solidFill>
                  <a:srgbClr val="171817"/>
                </a:solidFill>
                <a:latin typeface="Aptos"/>
              </a:rPr>
              <a:t>•  Every reconciliation, to the last decimal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789920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230368"/>
            <a:ext cx="10149840" cy="710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Why split it this way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Numeric interpretation stays deterministic and unit-tested instead of depending on the model doing arithmetic; the as-printed form is preserved for audit; and the confidence model can verify that a figure really appears in the evidence text the model quoted.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Financial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Deterministic, per comparative period, and never inventing an operand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257800" cy="16916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Invoice / receipt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quantity × 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unit_price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 = line amount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Σ line amounts = subtotal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subtotal + tax − discount = total</a:t>
            </a:r>
          </a:p>
          <a:p>
            <a:pPr algn="l">
              <a:spcAft>
                <a:spcPts val="300"/>
              </a:spcAft>
            </a:pPr>
            <a:r>
              <a:rPr sz="1400" b="0" i="0" dirty="0" err="1">
                <a:solidFill>
                  <a:srgbClr val="171817"/>
                </a:solidFill>
                <a:latin typeface="Aptos"/>
              </a:rPr>
              <a:t>cash_paid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 − total =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57800" cy="16916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38528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Balance sheet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total capital and liabilities = total assets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each section's components sum to that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section's own reported total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— derived from the document's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11879"/>
            <a:ext cx="5257800" cy="16916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3705989"/>
            <a:ext cx="4709160" cy="154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Profit and loss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interest earned + other income = total income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interest expended + 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opex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 + provisions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     = total expenditure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income − expenditure = profit before MI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PBMI − minority interest = attributable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79"/>
            <a:ext cx="5257800" cy="169164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813048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Cash flow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operating + investing + financing + FX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     = net increase in cash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opening + net increase + cash acquired</a:t>
            </a: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     = closing cash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532120"/>
            <a:ext cx="1078992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Tolerance   |calc − reported|  ≤  0.1  +  1e-5 × magnitude   — a combined allowance, both terms configurable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An OR of absolute-or-relative is too loose at both ends: a 0.5% relative limit passes a 20,000-crore discrepancy, while an absolute limit sized for a statement is 11% of a 9.00 till receipt. A missing operand returns NOT_APPLICABLE and never fails the document.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Confidence that means something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35C"/>
                </a:solidFill>
                <a:latin typeface="Aptos"/>
              </a:rPr>
              <a:t>Optional in the brief — implemented, but never asked of the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766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6126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4DBD24"/>
                </a:solidFill>
                <a:latin typeface="Aptos"/>
              </a:rPr>
              <a:t>SIGNAL                                            </a:t>
            </a:r>
            <a:r>
              <a:rPr lang="en-US" sz="1600" b="1" i="0" dirty="0">
                <a:solidFill>
                  <a:srgbClr val="4DBD24"/>
                </a:solidFill>
                <a:latin typeface="Aptos"/>
              </a:rPr>
              <a:t>        </a:t>
            </a:r>
            <a:r>
              <a:rPr sz="1600" b="1" i="0" dirty="0">
                <a:solidFill>
                  <a:srgbClr val="4DBD24"/>
                </a:solidFill>
                <a:latin typeface="Aptos"/>
              </a:rPr>
              <a:t> 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Source path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A PDF text layer is exact; a rendered page was read visually.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957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base 0.75 / 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5409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Evidence corroboration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The number is actually present in the quoted source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0540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+0.20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1246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Evidence completeness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A page number and a verbatim quote were both returned.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7124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+0.05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7083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Validation agreement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A figure inside a failing reconciliation is suspect.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3708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+0.10 / −0.30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783080"/>
            <a:ext cx="3749039" cy="3291840"/>
          </a:xfrm>
          <a:prstGeom prst="roundRect">
            <a:avLst>
              <a:gd name="adj" fmla="val 3500"/>
            </a:avLst>
          </a:prstGeom>
          <a:solidFill>
            <a:srgbClr val="F8F7E9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2057400"/>
            <a:ext cx="3108960" cy="2472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Why not ask the model?</a:t>
            </a:r>
          </a:p>
          <a:p>
            <a:pPr algn="l">
              <a:spcAft>
                <a:spcPts val="100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A self-reported score is not evidence. It correlates with fluency, not with correctness, and it cannot be checked.</a:t>
            </a:r>
          </a:p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171817"/>
                </a:solidFill>
                <a:latin typeface="Aptos"/>
              </a:rPr>
              <a:t>Every signal here is independently verifiable from the response itself — which is what makes the number explainable.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13248"/>
            <a:ext cx="1014984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A field the document does not report scores null, not zero.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There is nothing to be confident about, and zero would read as “certainly wrong”. Values below 0.70 are highlighted in the dashboard.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Swagger generated from the same Pydantic models the endpoints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766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/api/v1/documents/process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128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multipart upload; file + document_type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14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/api/v1/documents/{document_name}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157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latest stored result, case-insensitive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0175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/api/v1/documents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68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dashboard list; filter, search, paginate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204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/api/v1/health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21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status, database, extraction_configured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83080"/>
            <a:ext cx="3749039" cy="2286000"/>
          </a:xfrm>
          <a:prstGeom prst="roundRect">
            <a:avLst>
              <a:gd name="adj" fmla="val 3500"/>
            </a:avLst>
          </a:prstGeom>
          <a:solidFill>
            <a:srgbClr val="17181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46718" y="1930936"/>
            <a:ext cx="3108960" cy="199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dirty="0">
                <a:solidFill>
                  <a:srgbClr val="92D050"/>
                </a:solidFill>
                <a:latin typeface="Aptos"/>
              </a:rPr>
              <a:t>One error envelope</a:t>
            </a:r>
          </a:p>
          <a:p>
            <a:pPr algn="l">
              <a:spcAft>
                <a:spcPts val="800"/>
              </a:spcAft>
            </a:pPr>
            <a:r>
              <a:rPr sz="1200" b="0" i="0" dirty="0">
                <a:solidFill>
                  <a:srgbClr val="92D050"/>
                </a:solidFill>
                <a:latin typeface="Aptos"/>
              </a:rPr>
              <a:t>{ "error": {
    "code": "...",
    "message": "...",
    "</a:t>
            </a:r>
            <a:r>
              <a:rPr sz="1200" b="0" i="0" dirty="0" err="1">
                <a:solidFill>
                  <a:srgbClr val="92D050"/>
                </a:solidFill>
                <a:latin typeface="Aptos"/>
              </a:rPr>
              <a:t>request_id</a:t>
            </a:r>
            <a:r>
              <a:rPr sz="1200" b="0" i="0" dirty="0">
                <a:solidFill>
                  <a:srgbClr val="92D050"/>
                </a:solidFill>
                <a:latin typeface="Aptos"/>
              </a:rPr>
              <a:t>": "..." } }</a:t>
            </a:r>
          </a:p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92D050"/>
                </a:solidFill>
                <a:latin typeface="Aptos"/>
              </a:rPr>
              <a:t>14 typed codes. Stack traces and provider messages go to the log, never the body — asserted by a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1078992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THE STORED RESPONSE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extracted_data — every field with its parsed value, as-printed form, page number and evidence quote; line items; per-period key figures; an explicit missing_fields list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validation — per check: formula, operands, calculated, reported, variance, PASS / FAIL / NOT_APPLICABLE, and the tolerance applied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processing_metadata — ocr_used, extraction method, model, pages, timestamp, elapsed milliseconds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171817"/>
                </a:solidFill>
                <a:latin typeface="Aptos"/>
              </a:rPr>
              <a:t>The full response is persisted verbatim, so GET replays exactly what POST returned.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171817"/>
                </a:solidFill>
                <a:latin typeface="Aptos"/>
              </a:rPr>
              <a:t>HTML, CSS and vanilla JS, calling the same public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Upload, then every processed document with status, validation outcome and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58978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Per document: extracted fields, per-period tables, every check with its arithmetic, and the raw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07" y="1664208"/>
            <a:ext cx="5817195" cy="3955693"/>
          </a:xfrm>
          <a:prstGeom prst="rect">
            <a:avLst/>
          </a:prstGeom>
        </p:spPr>
      </p:pic>
      <p:pic>
        <p:nvPicPr>
          <p:cNvPr id="17" name="Picture 16" descr="document_resul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84248"/>
            <a:ext cx="3755077" cy="2753723"/>
          </a:xfrm>
          <a:prstGeom prst="rect">
            <a:avLst/>
          </a:prstGeom>
        </p:spPr>
      </p:pic>
      <p:pic>
        <p:nvPicPr>
          <p:cNvPr id="18" name="Picture 17" descr="document_result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134259"/>
            <a:ext cx="3681290" cy="2699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Engineering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The parts that do not show up in a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020824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3911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140 tests, zero network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The Anthropic client is stubbed throughout, so the suite runs the same in CI and with no API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45152" y="2020824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03911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49631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Structured, correlated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Single-line JSON with an x-request-id on every record, returned in the response header and in error bodies.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78308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30184" y="2020824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6" y="203911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Error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49631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One envelope, 14 codes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Typed exceptions map to HTTP status; a test asserts no internal detail reaches the client.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3192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169663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18795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4515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Bytes over claims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File type from magic bytes, filename sanitised against traversal, size ceiling before read, container runs unprivileged.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93192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45152" y="4169663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418795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64515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Environment only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No secret has a default and none is committed; .env.example lists names, never values.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931920"/>
            <a:ext cx="3456432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30184" y="4169663"/>
            <a:ext cx="310896" cy="310896"/>
          </a:xfrm>
          <a:prstGeom prst="ellipse">
            <a:avLst/>
          </a:prstGeom>
          <a:solidFill>
            <a:srgbClr val="EBF6E7"/>
          </a:solidFill>
          <a:ln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4DBD24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4187952"/>
            <a:ext cx="246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71817"/>
                </a:solidFill>
                <a:latin typeface="Aptos"/>
              </a:rPr>
              <a:t>Modularity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645152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One job per module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Validation, reading, extraction, reconciliation, scoring, persistence and routing are separate and separately testable.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One Docker image, no system packages, one service serving both frontend and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257800" cy="228600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17720" cy="1500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WHY THE IMAGE IS SIMPLE</a:t>
            </a:r>
          </a:p>
          <a:p>
            <a:pPr algn="l">
              <a:spcAft>
                <a:spcPts val="7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Every dependency ships as a binary wheel</a:t>
            </a:r>
          </a:p>
          <a:p>
            <a:pPr algn="l">
              <a:spcAft>
                <a:spcPts val="7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No apt-get layer, no 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poppler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, no compiler</a:t>
            </a:r>
          </a:p>
          <a:p>
            <a:pPr algn="l">
              <a:spcAft>
                <a:spcPts val="7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python:3.12-slim, runs as an unprivileged user</a:t>
            </a:r>
          </a:p>
          <a:p>
            <a:pPr algn="l">
              <a:spcAft>
                <a:spcPts val="7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render.yaml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 provisions service +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57800" cy="2286000"/>
          </a:xfrm>
          <a:prstGeom prst="roundRect">
            <a:avLst>
              <a:gd name="adj" fmla="val 3500"/>
            </a:avLst>
          </a:prstGeom>
          <a:solidFill>
            <a:srgbClr val="F8F7E9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17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THE TRAP WORTH NAMING</a:t>
            </a:r>
          </a:p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Free-tier container disks are ephemeral.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A deployed SQLite file is wiped on every redeploy and on cold start, so the dashboard would quietly empty itself part-way through an evaluation. The ORM layer is backend-agnostic; only DATABASE_URL changes, and the blueprint points it at managed PostgreSQL.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97680"/>
            <a:ext cx="107899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10149840" cy="1143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 dirty="0">
                <a:solidFill>
                  <a:srgbClr val="171817"/>
                </a:solidFill>
                <a:latin typeface="Aptos"/>
              </a:rPr>
              <a:t>VERIFIED AFTER DEPLOY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/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api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/v1/health returns ok, database connected, </a:t>
            </a:r>
            <a:r>
              <a:rPr sz="1400" b="0" i="0" dirty="0" err="1">
                <a:solidFill>
                  <a:srgbClr val="171817"/>
                </a:solidFill>
                <a:latin typeface="Aptos"/>
              </a:rPr>
              <a:t>extraction_configured</a:t>
            </a:r>
            <a:r>
              <a:rPr sz="1400" b="0" i="0" dirty="0">
                <a:solidFill>
                  <a:srgbClr val="171817"/>
                </a:solidFill>
                <a:latin typeface="Aptos"/>
              </a:rPr>
              <a:t> true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Swagger UI loads; POST processes a real document; GET by name returns it; the list backs the dashboard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71817"/>
                </a:solidFill>
                <a:latin typeface="Aptos"/>
              </a:rPr>
              <a:t>•  An unsupported file returns 400 with the documented error envelope and no stack 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817"/>
                </a:solidFill>
                <a:latin typeface="Georgia"/>
              </a:rPr>
              <a:t>Limitations, and what production would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Stated plainly — knowing where the edges are is part of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257800" cy="4023360"/>
          </a:xfrm>
          <a:prstGeom prst="roundRect">
            <a:avLst>
              <a:gd name="adj" fmla="val 3500"/>
            </a:avLst>
          </a:prstGeom>
          <a:solidFill>
            <a:srgbClr val="F8F7E9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6177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KNOWN LIMITATIONS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Accuracy is bounded by the vision model. The reconciliations catch internally inconsistent extractions; they cannot catch a value that is wrong self-consistently.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The caption registry is English and oriented to the statement conventions in scope; an unusual caption leaves a check NOT_APPLICABLE rather than guessing.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Processing is synchronous — 15 to 40 seconds per rasterised page. Fine for this brief, not for real concurrency.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Confidence is an explainable heuristic, not calibrated against labelled ground truth.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No authentication; the evaluation flow needs an open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57800" cy="4023360"/>
          </a:xfrm>
          <a:prstGeom prst="roundRect">
            <a:avLst>
              <a:gd name="adj" fmla="val 3500"/>
            </a:avLst>
          </a:prstGeom>
          <a:solidFill>
            <a:srgbClr val="EBF6E7"/>
          </a:solidFill>
          <a:ln w="12700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057400"/>
            <a:ext cx="46177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1" i="0">
                <a:solidFill>
                  <a:srgbClr val="171817"/>
                </a:solidFill>
                <a:latin typeface="Aptos"/>
              </a:rPr>
              <a:t>WHAT I WOULD CHANGE FOR PRODUCTION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Asynchronous processing: 202 Accepted + a job id, a queue, and streamed progress.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Content-hash caching so an identical re-upload costs nothing.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Store the source document and link evidence to bounding boxes, so the UI highlights the exact region.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An accuracy eval harness in CI — labelled corpus, field-level precision and recall — so a prompt change cannot silently regress extraction.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Auth, per-tenant isolation, rate limiting and a model spend cap.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71817"/>
                </a:solidFill>
                <a:latin typeface="Aptos"/>
              </a:rPr>
              <a:t>•  Alembic migrations, OpenTelemetry traces, per-request cost accounting.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828800" cy="32004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8"/>
          </a:solidFill>
          <a:ln w="9525">
            <a:solidFill>
              <a:srgbClr val="DC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31144" y="2024625"/>
            <a:ext cx="10332720" cy="135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dirty="0">
                <a:solidFill>
                  <a:srgbClr val="171817"/>
                </a:solidFill>
                <a:latin typeface="Georgia"/>
              </a:rPr>
              <a:t>Thank you</a:t>
            </a:r>
          </a:p>
          <a:p>
            <a:pPr algn="l">
              <a:spcAft>
                <a:spcPts val="0"/>
              </a:spcAft>
            </a:pPr>
            <a:endParaRPr sz="4000" b="0" i="0" dirty="0">
              <a:solidFill>
                <a:srgbClr val="171817"/>
              </a:solidFill>
              <a:latin typeface="Georgi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31144" y="2704298"/>
            <a:ext cx="3276313" cy="45719"/>
          </a:xfrm>
          <a:prstGeom prst="rect">
            <a:avLst/>
          </a:prstGeom>
          <a:solidFill>
            <a:srgbClr val="4DB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FE7FF-F6B7-C179-B7C3-253322411785}"/>
              </a:ext>
            </a:extLst>
          </p:cNvPr>
          <p:cNvSpPr txBox="1"/>
          <p:nvPr/>
        </p:nvSpPr>
        <p:spPr>
          <a:xfrm>
            <a:off x="1031144" y="3059668"/>
            <a:ext cx="8212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Happy to walk through the code, the prompts, the validation logic or the deployment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033271" y="379476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71817"/>
                </a:solidFill>
                <a:latin typeface="Aptos"/>
              </a:rPr>
              <a:t>Live application    </a:t>
            </a:r>
            <a:r>
              <a:rPr sz="1200">
                <a:solidFill>
                  <a:srgbClr val="4DBD24"/>
                </a:solidFill>
                <a:latin typeface="Consolas"/>
                <a:hlinkClick r:id="rId2"/>
              </a:rPr>
              <a:t>https://document-intelligence-api-lffm.onrender.com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71817"/>
                </a:solidFill>
                <a:latin typeface="Aptos"/>
              </a:rPr>
              <a:t>Swagger / OpenAPI   </a:t>
            </a:r>
            <a:r>
              <a:rPr sz="1200">
                <a:solidFill>
                  <a:srgbClr val="4DBD24"/>
                </a:solidFill>
                <a:latin typeface="Consolas"/>
                <a:hlinkClick r:id="rId3"/>
              </a:rPr>
              <a:t>https://document-intelligence-api-lffm.onrender.com/docs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71817"/>
                </a:solidFill>
                <a:latin typeface="Aptos"/>
              </a:rPr>
              <a:t>Health              </a:t>
            </a:r>
            <a:r>
              <a:rPr sz="1200">
                <a:solidFill>
                  <a:srgbClr val="4DBD24"/>
                </a:solidFill>
                <a:latin typeface="Consolas"/>
                <a:hlinkClick r:id="rId4"/>
              </a:rPr>
              <a:t>https://document-intelligence-api-lffm.onrender.com/api/v1/health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71817"/>
                </a:solidFill>
                <a:latin typeface="Aptos"/>
              </a:rPr>
              <a:t>Repository          </a:t>
            </a:r>
            <a:r>
              <a:rPr sz="1200">
                <a:solidFill>
                  <a:srgbClr val="4DBD24"/>
                </a:solidFill>
                <a:latin typeface="Consolas"/>
                <a:hlinkClick r:id="rId5"/>
              </a:rPr>
              <a:t>https://github.com/ZiyaSadik/document-intelligence-platform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2004</Words>
  <Application>Microsoft Office PowerPoint</Application>
  <PresentationFormat>Widescreen</PresentationFormat>
  <Paragraphs>229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zippyucm2002@outlook.com</cp:lastModifiedBy>
  <cp:revision>3</cp:revision>
  <dcterms:created xsi:type="dcterms:W3CDTF">2013-01-27T09:14:16Z</dcterms:created>
  <dcterms:modified xsi:type="dcterms:W3CDTF">2026-09-11T18:28:45Z</dcterms:modified>
  <cp:category/>
</cp:coreProperties>
</file>